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42" r:id="rId5"/>
    <p:sldId id="382" r:id="rId6"/>
    <p:sldId id="383" r:id="rId7"/>
    <p:sldId id="384" r:id="rId8"/>
    <p:sldId id="385" r:id="rId9"/>
    <p:sldId id="386" r:id="rId10"/>
    <p:sldId id="375" r:id="rId11"/>
    <p:sldId id="38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5388" autoAdjust="0"/>
  </p:normalViewPr>
  <p:slideViewPr>
    <p:cSldViewPr snapToGrid="0" snapToObjects="1" showGuides="1">
      <p:cViewPr varScale="1">
        <p:scale>
          <a:sx n="79" d="100"/>
          <a:sy n="79" d="100"/>
        </p:scale>
        <p:origin x="120" y="1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7C67EB-011F-4393-B102-386C284F60CE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253FDDC2-05C6-48F9-B6C2-27D2D5119EE8}">
      <dgm:prSet phldrT="[Texto]"/>
      <dgm:spPr/>
      <dgm:t>
        <a:bodyPr/>
        <a:lstStyle/>
        <a:p>
          <a:r>
            <a:rPr lang="es-EC" dirty="0"/>
            <a:t>Bases de datos NoSQL( </a:t>
          </a:r>
          <a:r>
            <a:rPr lang="es-EC" dirty="0" err="1"/>
            <a:t>Cassandra</a:t>
          </a:r>
          <a:r>
            <a:rPr lang="es-EC" dirty="0"/>
            <a:t>, Mongo </a:t>
          </a:r>
          <a:r>
            <a:rPr lang="es-EC" dirty="0" err="1"/>
            <a:t>Db</a:t>
          </a:r>
          <a:r>
            <a:rPr lang="es-EC" dirty="0"/>
            <a:t>)</a:t>
          </a:r>
          <a:endParaRPr lang="en-US" dirty="0"/>
        </a:p>
      </dgm:t>
    </dgm:pt>
    <dgm:pt modelId="{6BF71469-3EAE-4A9A-820C-5B70C12D5127}" type="parTrans" cxnId="{F03B5030-63E1-4F1E-B787-447E47298C9E}">
      <dgm:prSet/>
      <dgm:spPr/>
      <dgm:t>
        <a:bodyPr/>
        <a:lstStyle/>
        <a:p>
          <a:endParaRPr lang="en-US"/>
        </a:p>
      </dgm:t>
    </dgm:pt>
    <dgm:pt modelId="{0FFE023C-DECE-4B7B-8006-D8A5C54915AB}" type="sibTrans" cxnId="{F03B5030-63E1-4F1E-B787-447E47298C9E}">
      <dgm:prSet/>
      <dgm:spPr/>
      <dgm:t>
        <a:bodyPr/>
        <a:lstStyle/>
        <a:p>
          <a:endParaRPr lang="en-US"/>
        </a:p>
      </dgm:t>
    </dgm:pt>
    <dgm:pt modelId="{42F68CC3-0F8F-4E6D-9BF1-AC02D2C25FF9}">
      <dgm:prSet phldrT="[Texto]"/>
      <dgm:spPr/>
      <dgm:t>
        <a:bodyPr/>
        <a:lstStyle/>
        <a:p>
          <a:r>
            <a:rPr lang="es-EC" dirty="0"/>
            <a:t>Sistemas de Procesamiento </a:t>
          </a:r>
          <a:r>
            <a:rPr lang="es-EC" dirty="0" err="1"/>
            <a:t>Dsitribuido</a:t>
          </a:r>
          <a:r>
            <a:rPr lang="es-EC" dirty="0"/>
            <a:t> (Apache </a:t>
          </a:r>
          <a:r>
            <a:rPr lang="es-EC" dirty="0" err="1"/>
            <a:t>hadoop</a:t>
          </a:r>
          <a:r>
            <a:rPr lang="es-EC" dirty="0"/>
            <a:t>, Apache </a:t>
          </a:r>
          <a:r>
            <a:rPr lang="es-EC" dirty="0" err="1"/>
            <a:t>Spak</a:t>
          </a:r>
          <a:r>
            <a:rPr lang="es-EC" dirty="0"/>
            <a:t>)</a:t>
          </a:r>
          <a:endParaRPr lang="en-US" dirty="0"/>
        </a:p>
      </dgm:t>
    </dgm:pt>
    <dgm:pt modelId="{CE048C9E-97CE-4884-845A-1287F31C3D30}" type="parTrans" cxnId="{3D9E2B1C-77D1-4247-9668-F126E27E83A7}">
      <dgm:prSet/>
      <dgm:spPr/>
      <dgm:t>
        <a:bodyPr/>
        <a:lstStyle/>
        <a:p>
          <a:endParaRPr lang="en-US"/>
        </a:p>
      </dgm:t>
    </dgm:pt>
    <dgm:pt modelId="{17BF9B18-F50F-4E1A-9C40-A580FFED06C6}" type="sibTrans" cxnId="{3D9E2B1C-77D1-4247-9668-F126E27E83A7}">
      <dgm:prSet/>
      <dgm:spPr/>
      <dgm:t>
        <a:bodyPr/>
        <a:lstStyle/>
        <a:p>
          <a:endParaRPr lang="en-US"/>
        </a:p>
      </dgm:t>
    </dgm:pt>
    <dgm:pt modelId="{91AD2473-1FEA-4C0B-93E8-0AE2C640CDFA}">
      <dgm:prSet phldrT="[Texto]"/>
      <dgm:spPr/>
      <dgm:t>
        <a:bodyPr/>
        <a:lstStyle/>
        <a:p>
          <a:r>
            <a:rPr lang="es-EC" dirty="0"/>
            <a:t>Plataformas de </a:t>
          </a:r>
          <a:r>
            <a:rPr lang="es-EC" dirty="0" err="1"/>
            <a:t>Analisis</a:t>
          </a:r>
          <a:r>
            <a:rPr lang="es-EC" dirty="0"/>
            <a:t> (Apache </a:t>
          </a:r>
          <a:r>
            <a:rPr lang="es-EC" dirty="0" err="1"/>
            <a:t>Flink</a:t>
          </a:r>
          <a:r>
            <a:rPr lang="es-EC" dirty="0"/>
            <a:t>, Apache Storm) </a:t>
          </a:r>
          <a:endParaRPr lang="en-US" dirty="0"/>
        </a:p>
      </dgm:t>
    </dgm:pt>
    <dgm:pt modelId="{434C204C-1420-492C-B725-6DF8761B072E}" type="parTrans" cxnId="{AE53A157-289B-4BDC-AA32-666388F5483E}">
      <dgm:prSet/>
      <dgm:spPr/>
      <dgm:t>
        <a:bodyPr/>
        <a:lstStyle/>
        <a:p>
          <a:endParaRPr lang="en-US"/>
        </a:p>
      </dgm:t>
    </dgm:pt>
    <dgm:pt modelId="{38FB7484-7881-478A-933A-C94F8D1C34AD}" type="sibTrans" cxnId="{AE53A157-289B-4BDC-AA32-666388F5483E}">
      <dgm:prSet/>
      <dgm:spPr/>
      <dgm:t>
        <a:bodyPr/>
        <a:lstStyle/>
        <a:p>
          <a:endParaRPr lang="en-US"/>
        </a:p>
      </dgm:t>
    </dgm:pt>
    <dgm:pt modelId="{64251C8B-115B-4518-AB93-2C74725C26CB}" type="pres">
      <dgm:prSet presAssocID="{977C67EB-011F-4393-B102-386C284F60CE}" presName="linear" presStyleCnt="0">
        <dgm:presLayoutVars>
          <dgm:animLvl val="lvl"/>
          <dgm:resizeHandles val="exact"/>
        </dgm:presLayoutVars>
      </dgm:prSet>
      <dgm:spPr/>
    </dgm:pt>
    <dgm:pt modelId="{E950405E-6CC6-48B6-904C-7399F3CE12D0}" type="pres">
      <dgm:prSet presAssocID="{253FDDC2-05C6-48F9-B6C2-27D2D5119EE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300D371-CA78-41F9-87AA-61C104474304}" type="pres">
      <dgm:prSet presAssocID="{0FFE023C-DECE-4B7B-8006-D8A5C54915AB}" presName="spacer" presStyleCnt="0"/>
      <dgm:spPr/>
    </dgm:pt>
    <dgm:pt modelId="{16CCC850-3CAF-485E-8FE8-24210D90062C}" type="pres">
      <dgm:prSet presAssocID="{42F68CC3-0F8F-4E6D-9BF1-AC02D2C25FF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1006675-6FA0-437E-AFD5-8477A4383129}" type="pres">
      <dgm:prSet presAssocID="{17BF9B18-F50F-4E1A-9C40-A580FFED06C6}" presName="spacer" presStyleCnt="0"/>
      <dgm:spPr/>
    </dgm:pt>
    <dgm:pt modelId="{3DEE1146-FEA1-4301-B127-BA66F6D199B8}" type="pres">
      <dgm:prSet presAssocID="{91AD2473-1FEA-4C0B-93E8-0AE2C640CDF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EF8610D-D89D-474C-A345-CCFCC205697F}" type="presOf" srcId="{977C67EB-011F-4393-B102-386C284F60CE}" destId="{64251C8B-115B-4518-AB93-2C74725C26CB}" srcOrd="0" destOrd="0" presId="urn:microsoft.com/office/officeart/2005/8/layout/vList2"/>
    <dgm:cxn modelId="{3D9E2B1C-77D1-4247-9668-F126E27E83A7}" srcId="{977C67EB-011F-4393-B102-386C284F60CE}" destId="{42F68CC3-0F8F-4E6D-9BF1-AC02D2C25FF9}" srcOrd="1" destOrd="0" parTransId="{CE048C9E-97CE-4884-845A-1287F31C3D30}" sibTransId="{17BF9B18-F50F-4E1A-9C40-A580FFED06C6}"/>
    <dgm:cxn modelId="{F03B5030-63E1-4F1E-B787-447E47298C9E}" srcId="{977C67EB-011F-4393-B102-386C284F60CE}" destId="{253FDDC2-05C6-48F9-B6C2-27D2D5119EE8}" srcOrd="0" destOrd="0" parTransId="{6BF71469-3EAE-4A9A-820C-5B70C12D5127}" sibTransId="{0FFE023C-DECE-4B7B-8006-D8A5C54915AB}"/>
    <dgm:cxn modelId="{AE53A157-289B-4BDC-AA32-666388F5483E}" srcId="{977C67EB-011F-4393-B102-386C284F60CE}" destId="{91AD2473-1FEA-4C0B-93E8-0AE2C640CDFA}" srcOrd="2" destOrd="0" parTransId="{434C204C-1420-492C-B725-6DF8761B072E}" sibTransId="{38FB7484-7881-478A-933A-C94F8D1C34AD}"/>
    <dgm:cxn modelId="{D1E6BF7B-80AC-42DA-909D-70625060A7A6}" type="presOf" srcId="{91AD2473-1FEA-4C0B-93E8-0AE2C640CDFA}" destId="{3DEE1146-FEA1-4301-B127-BA66F6D199B8}" srcOrd="0" destOrd="0" presId="urn:microsoft.com/office/officeart/2005/8/layout/vList2"/>
    <dgm:cxn modelId="{5FFF0AA8-15D6-45C4-A52B-CD5F33C04F94}" type="presOf" srcId="{253FDDC2-05C6-48F9-B6C2-27D2D5119EE8}" destId="{E950405E-6CC6-48B6-904C-7399F3CE12D0}" srcOrd="0" destOrd="0" presId="urn:microsoft.com/office/officeart/2005/8/layout/vList2"/>
    <dgm:cxn modelId="{DA3EEEDA-58B0-4CDA-B926-E916B93AA69F}" type="presOf" srcId="{42F68CC3-0F8F-4E6D-9BF1-AC02D2C25FF9}" destId="{16CCC850-3CAF-485E-8FE8-24210D90062C}" srcOrd="0" destOrd="0" presId="urn:microsoft.com/office/officeart/2005/8/layout/vList2"/>
    <dgm:cxn modelId="{86E17FCD-7FDF-4DD3-B26E-C24EAE2729D0}" type="presParOf" srcId="{64251C8B-115B-4518-AB93-2C74725C26CB}" destId="{E950405E-6CC6-48B6-904C-7399F3CE12D0}" srcOrd="0" destOrd="0" presId="urn:microsoft.com/office/officeart/2005/8/layout/vList2"/>
    <dgm:cxn modelId="{44DDBEA9-05FF-4370-A22B-84EC9FBB0D8B}" type="presParOf" srcId="{64251C8B-115B-4518-AB93-2C74725C26CB}" destId="{7300D371-CA78-41F9-87AA-61C104474304}" srcOrd="1" destOrd="0" presId="urn:microsoft.com/office/officeart/2005/8/layout/vList2"/>
    <dgm:cxn modelId="{D1AE933F-7C88-412C-9701-66D3F34BEE21}" type="presParOf" srcId="{64251C8B-115B-4518-AB93-2C74725C26CB}" destId="{16CCC850-3CAF-485E-8FE8-24210D90062C}" srcOrd="2" destOrd="0" presId="urn:microsoft.com/office/officeart/2005/8/layout/vList2"/>
    <dgm:cxn modelId="{3DCD222E-CB97-4FDC-82A5-51C78D264743}" type="presParOf" srcId="{64251C8B-115B-4518-AB93-2C74725C26CB}" destId="{71006675-6FA0-437E-AFD5-8477A4383129}" srcOrd="3" destOrd="0" presId="urn:microsoft.com/office/officeart/2005/8/layout/vList2"/>
    <dgm:cxn modelId="{CCC25AFF-8BB0-4F45-AB43-6D4D54C1FA5C}" type="presParOf" srcId="{64251C8B-115B-4518-AB93-2C74725C26CB}" destId="{3DEE1146-FEA1-4301-B127-BA66F6D199B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71336E6-1539-4188-905B-6AE7EDEC762B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D9ED096-263C-4B4D-9512-29F390DF51E2}">
      <dgm:prSet phldrT="[Texto]"/>
      <dgm:spPr/>
      <dgm:t>
        <a:bodyPr/>
        <a:lstStyle/>
        <a:p>
          <a:r>
            <a:rPr lang="es-EC" dirty="0"/>
            <a:t>Python: Sintaxis sencilla y legible, usado en Ciencia de datos y desarrollo web</a:t>
          </a:r>
          <a:endParaRPr lang="en-US" dirty="0"/>
        </a:p>
      </dgm:t>
    </dgm:pt>
    <dgm:pt modelId="{B676B7DF-0188-4593-964E-07491600B96B}" type="parTrans" cxnId="{6385066F-3C41-4F35-B2BC-C103DBE9292B}">
      <dgm:prSet/>
      <dgm:spPr/>
      <dgm:t>
        <a:bodyPr/>
        <a:lstStyle/>
        <a:p>
          <a:endParaRPr lang="en-US"/>
        </a:p>
      </dgm:t>
    </dgm:pt>
    <dgm:pt modelId="{FA138821-86F4-458C-AB9E-30CF68213740}" type="sibTrans" cxnId="{6385066F-3C41-4F35-B2BC-C103DBE9292B}">
      <dgm:prSet/>
      <dgm:spPr/>
      <dgm:t>
        <a:bodyPr/>
        <a:lstStyle/>
        <a:p>
          <a:endParaRPr lang="en-US"/>
        </a:p>
      </dgm:t>
    </dgm:pt>
    <dgm:pt modelId="{7AE7ECDF-B1ED-4FB5-A0A7-793C482D1D3E}">
      <dgm:prSet phldrT="[Texto]"/>
      <dgm:spPr/>
      <dgm:t>
        <a:bodyPr/>
        <a:lstStyle/>
        <a:p>
          <a:r>
            <a:rPr lang="es-EC" dirty="0"/>
            <a:t>Bibliotecas: Pandas</a:t>
          </a:r>
          <a:r>
            <a:rPr lang="en-US" dirty="0"/>
            <a:t>NumPy, SciPy, Scikit-Learn y TensorFlow, </a:t>
          </a:r>
          <a:r>
            <a:rPr lang="en-US" dirty="0" err="1"/>
            <a:t>permiten</a:t>
          </a:r>
          <a:r>
            <a:rPr lang="en-US" dirty="0"/>
            <a:t> </a:t>
          </a:r>
          <a:r>
            <a:rPr lang="en-US" dirty="0" err="1"/>
            <a:t>el</a:t>
          </a:r>
          <a:r>
            <a:rPr lang="en-US" dirty="0"/>
            <a:t> </a:t>
          </a:r>
          <a:r>
            <a:rPr lang="en-US" dirty="0" err="1"/>
            <a:t>análisis</a:t>
          </a:r>
          <a:r>
            <a:rPr lang="en-US" dirty="0"/>
            <a:t> de Datos y la </a:t>
          </a:r>
          <a:r>
            <a:rPr lang="en-US" dirty="0" err="1"/>
            <a:t>creacion</a:t>
          </a:r>
          <a:r>
            <a:rPr lang="en-US" dirty="0"/>
            <a:t> de </a:t>
          </a:r>
          <a:r>
            <a:rPr lang="en-US" dirty="0" err="1"/>
            <a:t>modelos</a:t>
          </a:r>
          <a:r>
            <a:rPr lang="en-US" dirty="0"/>
            <a:t> M.L</a:t>
          </a:r>
        </a:p>
      </dgm:t>
    </dgm:pt>
    <dgm:pt modelId="{24EBA686-0E40-48C6-BEE4-8626A4EB0E52}" type="parTrans" cxnId="{F1AB2AB9-15EA-425C-92E8-4486E2651FF5}">
      <dgm:prSet/>
      <dgm:spPr/>
      <dgm:t>
        <a:bodyPr/>
        <a:lstStyle/>
        <a:p>
          <a:endParaRPr lang="en-US"/>
        </a:p>
      </dgm:t>
    </dgm:pt>
    <dgm:pt modelId="{36D30C08-8F65-43DA-9E75-2E6B870B6158}" type="sibTrans" cxnId="{F1AB2AB9-15EA-425C-92E8-4486E2651FF5}">
      <dgm:prSet/>
      <dgm:spPr/>
      <dgm:t>
        <a:bodyPr/>
        <a:lstStyle/>
        <a:p>
          <a:endParaRPr lang="en-US"/>
        </a:p>
      </dgm:t>
    </dgm:pt>
    <dgm:pt modelId="{A8177FFD-ED80-4EB4-BB2E-61DDFDA10B30}">
      <dgm:prSet phldrT="[Texto]" phldr="1"/>
      <dgm:spPr/>
      <dgm:t>
        <a:bodyPr/>
        <a:lstStyle/>
        <a:p>
          <a:endParaRPr lang="en-US"/>
        </a:p>
      </dgm:t>
    </dgm:pt>
    <dgm:pt modelId="{4EB8CC4B-89A6-424E-9F2E-DBDFFAA1171E}" type="parTrans" cxnId="{41EB34DC-70A6-4B94-8D10-C674A998553A}">
      <dgm:prSet/>
      <dgm:spPr/>
      <dgm:t>
        <a:bodyPr/>
        <a:lstStyle/>
        <a:p>
          <a:endParaRPr lang="en-US"/>
        </a:p>
      </dgm:t>
    </dgm:pt>
    <dgm:pt modelId="{650E3DEF-BEDE-40C5-A6B4-911DE3E6814E}" type="sibTrans" cxnId="{41EB34DC-70A6-4B94-8D10-C674A998553A}">
      <dgm:prSet/>
      <dgm:spPr/>
      <dgm:t>
        <a:bodyPr/>
        <a:lstStyle/>
        <a:p>
          <a:endParaRPr lang="en-US"/>
        </a:p>
      </dgm:t>
    </dgm:pt>
    <dgm:pt modelId="{3CB947EA-5449-4327-8CD8-3C3AE62BBC45}" type="pres">
      <dgm:prSet presAssocID="{A71336E6-1539-4188-905B-6AE7EDEC762B}" presName="linear" presStyleCnt="0">
        <dgm:presLayoutVars>
          <dgm:animLvl val="lvl"/>
          <dgm:resizeHandles val="exact"/>
        </dgm:presLayoutVars>
      </dgm:prSet>
      <dgm:spPr/>
    </dgm:pt>
    <dgm:pt modelId="{C71118DB-D9C2-4E59-B8A4-338CE440C587}" type="pres">
      <dgm:prSet presAssocID="{0D9ED096-263C-4B4D-9512-29F390DF51E2}" presName="parentText" presStyleLbl="node1" presStyleIdx="0" presStyleCnt="2" custLinFactX="-12000" custLinFactNeighborX="-100000" custLinFactNeighborY="16835">
        <dgm:presLayoutVars>
          <dgm:chMax val="0"/>
          <dgm:bulletEnabled val="1"/>
        </dgm:presLayoutVars>
      </dgm:prSet>
      <dgm:spPr/>
    </dgm:pt>
    <dgm:pt modelId="{135D290C-E852-4E58-9019-1259C4C92473}" type="pres">
      <dgm:prSet presAssocID="{FA138821-86F4-458C-AB9E-30CF68213740}" presName="spacer" presStyleCnt="0"/>
      <dgm:spPr/>
    </dgm:pt>
    <dgm:pt modelId="{ED15E08C-EE4B-4E16-800D-723B8E8C0F12}" type="pres">
      <dgm:prSet presAssocID="{7AE7ECDF-B1ED-4FB5-A0A7-793C482D1D3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F98BC202-263D-4D7B-BD81-B4B033EF5C5B}" type="pres">
      <dgm:prSet presAssocID="{7AE7ECDF-B1ED-4FB5-A0A7-793C482D1D3E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9EBD841A-0A67-43EF-8787-DCB017BFF968}" type="presOf" srcId="{A8177FFD-ED80-4EB4-BB2E-61DDFDA10B30}" destId="{F98BC202-263D-4D7B-BD81-B4B033EF5C5B}" srcOrd="0" destOrd="0" presId="urn:microsoft.com/office/officeart/2005/8/layout/vList2"/>
    <dgm:cxn modelId="{ACF2A826-46AE-4643-802D-B84DA74177BD}" type="presOf" srcId="{A71336E6-1539-4188-905B-6AE7EDEC762B}" destId="{3CB947EA-5449-4327-8CD8-3C3AE62BBC45}" srcOrd="0" destOrd="0" presId="urn:microsoft.com/office/officeart/2005/8/layout/vList2"/>
    <dgm:cxn modelId="{6385066F-3C41-4F35-B2BC-C103DBE9292B}" srcId="{A71336E6-1539-4188-905B-6AE7EDEC762B}" destId="{0D9ED096-263C-4B4D-9512-29F390DF51E2}" srcOrd="0" destOrd="0" parTransId="{B676B7DF-0188-4593-964E-07491600B96B}" sibTransId="{FA138821-86F4-458C-AB9E-30CF68213740}"/>
    <dgm:cxn modelId="{4426F784-7B7E-40E8-98EB-3ED7CA47DDD9}" type="presOf" srcId="{0D9ED096-263C-4B4D-9512-29F390DF51E2}" destId="{C71118DB-D9C2-4E59-B8A4-338CE440C587}" srcOrd="0" destOrd="0" presId="urn:microsoft.com/office/officeart/2005/8/layout/vList2"/>
    <dgm:cxn modelId="{5EDFE0B8-5E33-461C-B02A-7C62B1E6110A}" type="presOf" srcId="{7AE7ECDF-B1ED-4FB5-A0A7-793C482D1D3E}" destId="{ED15E08C-EE4B-4E16-800D-723B8E8C0F12}" srcOrd="0" destOrd="0" presId="urn:microsoft.com/office/officeart/2005/8/layout/vList2"/>
    <dgm:cxn modelId="{F1AB2AB9-15EA-425C-92E8-4486E2651FF5}" srcId="{A71336E6-1539-4188-905B-6AE7EDEC762B}" destId="{7AE7ECDF-B1ED-4FB5-A0A7-793C482D1D3E}" srcOrd="1" destOrd="0" parTransId="{24EBA686-0E40-48C6-BEE4-8626A4EB0E52}" sibTransId="{36D30C08-8F65-43DA-9E75-2E6B870B6158}"/>
    <dgm:cxn modelId="{41EB34DC-70A6-4B94-8D10-C674A998553A}" srcId="{7AE7ECDF-B1ED-4FB5-A0A7-793C482D1D3E}" destId="{A8177FFD-ED80-4EB4-BB2E-61DDFDA10B30}" srcOrd="0" destOrd="0" parTransId="{4EB8CC4B-89A6-424E-9F2E-DBDFFAA1171E}" sibTransId="{650E3DEF-BEDE-40C5-A6B4-911DE3E6814E}"/>
    <dgm:cxn modelId="{11E87E94-3F73-448B-9F6C-79E73FA8950C}" type="presParOf" srcId="{3CB947EA-5449-4327-8CD8-3C3AE62BBC45}" destId="{C71118DB-D9C2-4E59-B8A4-338CE440C587}" srcOrd="0" destOrd="0" presId="urn:microsoft.com/office/officeart/2005/8/layout/vList2"/>
    <dgm:cxn modelId="{99CE8F85-4A86-487E-9D4F-75EC0A3B4C52}" type="presParOf" srcId="{3CB947EA-5449-4327-8CD8-3C3AE62BBC45}" destId="{135D290C-E852-4E58-9019-1259C4C92473}" srcOrd="1" destOrd="0" presId="urn:microsoft.com/office/officeart/2005/8/layout/vList2"/>
    <dgm:cxn modelId="{908A715C-B9F3-416B-BDFB-8A61FBD15810}" type="presParOf" srcId="{3CB947EA-5449-4327-8CD8-3C3AE62BBC45}" destId="{ED15E08C-EE4B-4E16-800D-723B8E8C0F12}" srcOrd="2" destOrd="0" presId="urn:microsoft.com/office/officeart/2005/8/layout/vList2"/>
    <dgm:cxn modelId="{DF05FA00-8F0B-457A-9ACA-0E869A7B26F2}" type="presParOf" srcId="{3CB947EA-5449-4327-8CD8-3C3AE62BBC45}" destId="{F98BC202-263D-4D7B-BD81-B4B033EF5C5B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50405E-6CC6-48B6-904C-7399F3CE12D0}">
      <dsp:nvSpPr>
        <dsp:cNvPr id="0" name=""/>
        <dsp:cNvSpPr/>
      </dsp:nvSpPr>
      <dsp:spPr>
        <a:xfrm>
          <a:off x="0" y="52477"/>
          <a:ext cx="10515600" cy="107257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700" kern="1200" dirty="0"/>
            <a:t>Bases de datos NoSQL( </a:t>
          </a:r>
          <a:r>
            <a:rPr lang="es-EC" sz="2700" kern="1200" dirty="0" err="1"/>
            <a:t>Cassandra</a:t>
          </a:r>
          <a:r>
            <a:rPr lang="es-EC" sz="2700" kern="1200" dirty="0"/>
            <a:t>, Mongo </a:t>
          </a:r>
          <a:r>
            <a:rPr lang="es-EC" sz="2700" kern="1200" dirty="0" err="1"/>
            <a:t>Db</a:t>
          </a:r>
          <a:r>
            <a:rPr lang="es-EC" sz="2700" kern="1200" dirty="0"/>
            <a:t>)</a:t>
          </a:r>
          <a:endParaRPr lang="en-US" sz="2700" kern="1200" dirty="0"/>
        </a:p>
      </dsp:txBody>
      <dsp:txXfrm>
        <a:off x="52359" y="104836"/>
        <a:ext cx="10410882" cy="967861"/>
      </dsp:txXfrm>
    </dsp:sp>
    <dsp:sp modelId="{16CCC850-3CAF-485E-8FE8-24210D90062C}">
      <dsp:nvSpPr>
        <dsp:cNvPr id="0" name=""/>
        <dsp:cNvSpPr/>
      </dsp:nvSpPr>
      <dsp:spPr>
        <a:xfrm>
          <a:off x="0" y="1202816"/>
          <a:ext cx="10515600" cy="1072579"/>
        </a:xfrm>
        <a:prstGeom prst="roundRect">
          <a:avLst/>
        </a:prstGeom>
        <a:solidFill>
          <a:schemeClr val="accent4">
            <a:hueOff val="1478040"/>
            <a:satOff val="244"/>
            <a:lumOff val="402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700" kern="1200" dirty="0"/>
            <a:t>Sistemas de Procesamiento </a:t>
          </a:r>
          <a:r>
            <a:rPr lang="es-EC" sz="2700" kern="1200" dirty="0" err="1"/>
            <a:t>Dsitribuido</a:t>
          </a:r>
          <a:r>
            <a:rPr lang="es-EC" sz="2700" kern="1200" dirty="0"/>
            <a:t> (Apache </a:t>
          </a:r>
          <a:r>
            <a:rPr lang="es-EC" sz="2700" kern="1200" dirty="0" err="1"/>
            <a:t>hadoop</a:t>
          </a:r>
          <a:r>
            <a:rPr lang="es-EC" sz="2700" kern="1200" dirty="0"/>
            <a:t>, Apache </a:t>
          </a:r>
          <a:r>
            <a:rPr lang="es-EC" sz="2700" kern="1200" dirty="0" err="1"/>
            <a:t>Spak</a:t>
          </a:r>
          <a:r>
            <a:rPr lang="es-EC" sz="2700" kern="1200" dirty="0"/>
            <a:t>)</a:t>
          </a:r>
          <a:endParaRPr lang="en-US" sz="2700" kern="1200" dirty="0"/>
        </a:p>
      </dsp:txBody>
      <dsp:txXfrm>
        <a:off x="52359" y="1255175"/>
        <a:ext cx="10410882" cy="967861"/>
      </dsp:txXfrm>
    </dsp:sp>
    <dsp:sp modelId="{3DEE1146-FEA1-4301-B127-BA66F6D199B8}">
      <dsp:nvSpPr>
        <dsp:cNvPr id="0" name=""/>
        <dsp:cNvSpPr/>
      </dsp:nvSpPr>
      <dsp:spPr>
        <a:xfrm>
          <a:off x="0" y="2353155"/>
          <a:ext cx="10515600" cy="1072579"/>
        </a:xfrm>
        <a:prstGeom prst="roundRect">
          <a:avLst/>
        </a:prstGeom>
        <a:solidFill>
          <a:schemeClr val="accent4">
            <a:hueOff val="2956080"/>
            <a:satOff val="489"/>
            <a:lumOff val="804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700" kern="1200" dirty="0"/>
            <a:t>Plataformas de </a:t>
          </a:r>
          <a:r>
            <a:rPr lang="es-EC" sz="2700" kern="1200" dirty="0" err="1"/>
            <a:t>Analisis</a:t>
          </a:r>
          <a:r>
            <a:rPr lang="es-EC" sz="2700" kern="1200" dirty="0"/>
            <a:t> (Apache </a:t>
          </a:r>
          <a:r>
            <a:rPr lang="es-EC" sz="2700" kern="1200" dirty="0" err="1"/>
            <a:t>Flink</a:t>
          </a:r>
          <a:r>
            <a:rPr lang="es-EC" sz="2700" kern="1200" dirty="0"/>
            <a:t>, Apache Storm) </a:t>
          </a:r>
          <a:endParaRPr lang="en-US" sz="2700" kern="1200" dirty="0"/>
        </a:p>
      </dsp:txBody>
      <dsp:txXfrm>
        <a:off x="52359" y="2405514"/>
        <a:ext cx="10410882" cy="96786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1118DB-D9C2-4E59-B8A4-338CE440C587}">
      <dsp:nvSpPr>
        <dsp:cNvPr id="0" name=""/>
        <dsp:cNvSpPr/>
      </dsp:nvSpPr>
      <dsp:spPr>
        <a:xfrm>
          <a:off x="0" y="31493"/>
          <a:ext cx="8653828" cy="1442098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600" kern="1200" dirty="0"/>
            <a:t>Python: Sintaxis sencilla y legible, usado en Ciencia de datos y desarrollo web</a:t>
          </a:r>
          <a:endParaRPr lang="en-US" sz="2600" kern="1200" dirty="0"/>
        </a:p>
      </dsp:txBody>
      <dsp:txXfrm>
        <a:off x="70397" y="101890"/>
        <a:ext cx="8513034" cy="1301304"/>
      </dsp:txXfrm>
    </dsp:sp>
    <dsp:sp modelId="{ED15E08C-EE4B-4E16-800D-723B8E8C0F12}">
      <dsp:nvSpPr>
        <dsp:cNvPr id="0" name=""/>
        <dsp:cNvSpPr/>
      </dsp:nvSpPr>
      <dsp:spPr>
        <a:xfrm>
          <a:off x="0" y="1535866"/>
          <a:ext cx="8653828" cy="1442098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600" kern="1200" dirty="0"/>
            <a:t>Bibliotecas: Pandas</a:t>
          </a:r>
          <a:r>
            <a:rPr lang="en-US" sz="2600" kern="1200" dirty="0"/>
            <a:t>NumPy, SciPy, Scikit-Learn y TensorFlow, </a:t>
          </a:r>
          <a:r>
            <a:rPr lang="en-US" sz="2600" kern="1200" dirty="0" err="1"/>
            <a:t>permiten</a:t>
          </a:r>
          <a:r>
            <a:rPr lang="en-US" sz="2600" kern="1200" dirty="0"/>
            <a:t> </a:t>
          </a:r>
          <a:r>
            <a:rPr lang="en-US" sz="2600" kern="1200" dirty="0" err="1"/>
            <a:t>el</a:t>
          </a:r>
          <a:r>
            <a:rPr lang="en-US" sz="2600" kern="1200" dirty="0"/>
            <a:t> </a:t>
          </a:r>
          <a:r>
            <a:rPr lang="en-US" sz="2600" kern="1200" dirty="0" err="1"/>
            <a:t>análisis</a:t>
          </a:r>
          <a:r>
            <a:rPr lang="en-US" sz="2600" kern="1200" dirty="0"/>
            <a:t> de Datos y la </a:t>
          </a:r>
          <a:r>
            <a:rPr lang="en-US" sz="2600" kern="1200" dirty="0" err="1"/>
            <a:t>creacion</a:t>
          </a:r>
          <a:r>
            <a:rPr lang="en-US" sz="2600" kern="1200" dirty="0"/>
            <a:t> de </a:t>
          </a:r>
          <a:r>
            <a:rPr lang="en-US" sz="2600" kern="1200" dirty="0" err="1"/>
            <a:t>modelos</a:t>
          </a:r>
          <a:r>
            <a:rPr lang="en-US" sz="2600" kern="1200" dirty="0"/>
            <a:t> M.L</a:t>
          </a:r>
        </a:p>
      </dsp:txBody>
      <dsp:txXfrm>
        <a:off x="70397" y="1606263"/>
        <a:ext cx="8513034" cy="1301304"/>
      </dsp:txXfrm>
    </dsp:sp>
    <dsp:sp modelId="{F98BC202-263D-4D7B-BD81-B4B033EF5C5B}">
      <dsp:nvSpPr>
        <dsp:cNvPr id="0" name=""/>
        <dsp:cNvSpPr/>
      </dsp:nvSpPr>
      <dsp:spPr>
        <a:xfrm>
          <a:off x="0" y="2977964"/>
          <a:ext cx="8653828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4759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2000" kern="1200"/>
        </a:p>
      </dsp:txBody>
      <dsp:txXfrm>
        <a:off x="0" y="2977964"/>
        <a:ext cx="8653828" cy="4305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7/31/2025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7/31/2025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22DCA-038C-1108-0A3A-B5E1ADD85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4ECCB8-779A-A41D-B147-B4F76585C5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DD3A0D-1FBD-635B-5E43-57F9773348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622B7-D19B-E018-0309-BB350EEB4F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766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s-ES"/>
              <a:t>Haga clic en el icono para agregar una tabla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s-ES"/>
              <a:t>Haga clic en el icono para agregar una tabla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</p:spPr>
        <p:txBody>
          <a:bodyPr anchor="b"/>
          <a:lstStyle/>
          <a:p>
            <a:r>
              <a:rPr lang="en-US" dirty="0" err="1"/>
              <a:t>unidad</a:t>
            </a:r>
            <a:r>
              <a:rPr lang="en-US" dirty="0"/>
              <a:t> 3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670628"/>
            <a:ext cx="12191997" cy="2577772"/>
          </a:xfrm>
        </p:spPr>
        <p:txBody>
          <a:bodyPr/>
          <a:lstStyle/>
          <a:p>
            <a:r>
              <a:rPr lang="es-EC" dirty="0"/>
              <a:t>L</a:t>
            </a:r>
            <a:r>
              <a:rPr lang="en-US" dirty="0" err="1"/>
              <a:t>enguajes</a:t>
            </a:r>
            <a:r>
              <a:rPr lang="en-US" dirty="0"/>
              <a:t> y frameworks</a:t>
            </a: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E734DF-D10B-07BA-144E-2C3AD0FAD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Introducción</a:t>
            </a:r>
            <a:endParaRPr lang="en-US" dirty="0"/>
          </a:p>
        </p:txBody>
      </p:sp>
      <p:sp>
        <p:nvSpPr>
          <p:cNvPr id="3" name="Marcador de tabla 2">
            <a:extLst>
              <a:ext uri="{FF2B5EF4-FFF2-40B4-BE49-F238E27FC236}">
                <a16:creationId xmlns:a16="http://schemas.microsoft.com/office/drawing/2014/main" id="{7CA61E13-5B68-8271-4874-B97A8083BB1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El dominio del </a:t>
            </a:r>
            <a:r>
              <a:rPr lang="es-ES" dirty="0" err="1"/>
              <a:t>big</a:t>
            </a:r>
            <a:r>
              <a:rPr lang="es-ES" dirty="0"/>
              <a:t> data y el machine </a:t>
            </a:r>
            <a:r>
              <a:rPr lang="es-ES" dirty="0" err="1"/>
              <a:t>learning</a:t>
            </a:r>
            <a:r>
              <a:rPr lang="es-ES" dirty="0"/>
              <a:t> transforma la comprensión y manipulación de grandes volúmenes de datos, permitiendo decisiones más informadas y soluciones innovadoras en diversos sectores.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En esta unidad se exploran los lenguajes de programación y </a:t>
            </a:r>
            <a:r>
              <a:rPr lang="es-ES" dirty="0" err="1"/>
              <a:t>frameworks</a:t>
            </a:r>
            <a:r>
              <a:rPr lang="es-ES" dirty="0"/>
              <a:t> específicos que son fundamentales en este contexto, proporcionando a los estudiantes las habilidades necesarias para seleccionar y aplicar las herramientas adecuadas para distintos tipos de proyectos de análisis de datos y aprendizaje automático.</a:t>
            </a:r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BE8E6EC-8D8B-B8A8-EF16-DDA439840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546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0B0706-A9BB-1804-F258-7493E1DB4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Objetivos de Aprendizaje</a:t>
            </a:r>
          </a:p>
        </p:txBody>
      </p:sp>
      <p:sp>
        <p:nvSpPr>
          <p:cNvPr id="3" name="Marcador de tabla 2">
            <a:extLst>
              <a:ext uri="{FF2B5EF4-FFF2-40B4-BE49-F238E27FC236}">
                <a16:creationId xmlns:a16="http://schemas.microsoft.com/office/drawing/2014/main" id="{803CC94C-DA71-0563-3341-AF113CDD671F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  <p:txBody>
          <a:bodyPr/>
          <a:lstStyle/>
          <a:p>
            <a:r>
              <a:rPr lang="es-ES" dirty="0"/>
              <a:t>•	Comprender el papel de los lenguajes de programación Python y R en proyectos de Big Data.</a:t>
            </a:r>
          </a:p>
          <a:p>
            <a:r>
              <a:rPr lang="es-ES" dirty="0"/>
              <a:t>•	Identificar y comparar </a:t>
            </a:r>
            <a:r>
              <a:rPr lang="es-ES" dirty="0" err="1"/>
              <a:t>frameworks</a:t>
            </a:r>
            <a:r>
              <a:rPr lang="es-ES" dirty="0"/>
              <a:t> de Machine Learning como </a:t>
            </a:r>
            <a:r>
              <a:rPr lang="es-ES" dirty="0" err="1"/>
              <a:t>TensorFlow</a:t>
            </a:r>
            <a:r>
              <a:rPr lang="es-ES" dirty="0"/>
              <a:t> y </a:t>
            </a:r>
            <a:r>
              <a:rPr lang="es-ES" dirty="0" err="1"/>
              <a:t>PyTorch</a:t>
            </a:r>
            <a:r>
              <a:rPr lang="es-ES" dirty="0"/>
              <a:t>.</a:t>
            </a:r>
          </a:p>
          <a:p>
            <a:r>
              <a:rPr lang="es-ES" dirty="0"/>
              <a:t>•	Aplicar herramientas de programación e integración para resolver retos reales con grandes volúmenes de datos.</a:t>
            </a:r>
          </a:p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24E5A2-7B1E-4BD0-96E5-CFAA10DA8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214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01BFFD-8AE8-ED30-1A29-D1AC9D681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frameworks</a:t>
            </a:r>
          </a:p>
        </p:txBody>
      </p:sp>
      <p:sp>
        <p:nvSpPr>
          <p:cNvPr id="3" name="Marcador de tabla 2">
            <a:extLst>
              <a:ext uri="{FF2B5EF4-FFF2-40B4-BE49-F238E27FC236}">
                <a16:creationId xmlns:a16="http://schemas.microsoft.com/office/drawing/2014/main" id="{7F45FA7E-9D98-1C21-C41E-3C240333273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Un </a:t>
            </a:r>
            <a:r>
              <a:rPr lang="es-ES" dirty="0" err="1"/>
              <a:t>framework</a:t>
            </a:r>
            <a:r>
              <a:rPr lang="es-ES" dirty="0"/>
              <a:t> es un conjunto estructurado de componentes reutilizables (clases, funciones, librerías y patrones de diseño) que proporcionan una base genérica para el desarrollo de aplicaciones, facilitando la organización del código, la estandarización de procesos y la reutilización de soluciones probadas.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Su propósito es reducir el tiempo de desarrollo y mejorar la calidad del software, al ofrecer abstracciones de alto nivel sobre tareas comunes en un dominio específico (Gamma et al., 1995; Freeman et al., 2004).</a:t>
            </a:r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9557F7-B3DC-1A3A-778C-0B0B82BE5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252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E6F69A-1DB9-4EE4-DDCD-57EA235A8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 err="1"/>
              <a:t>Stack</a:t>
            </a:r>
            <a:r>
              <a:rPr lang="es-EC" dirty="0"/>
              <a:t> </a:t>
            </a:r>
            <a:r>
              <a:rPr lang="es-EC" dirty="0" err="1"/>
              <a:t>tecnologico</a:t>
            </a:r>
            <a:endParaRPr lang="en-US" dirty="0"/>
          </a:p>
        </p:txBody>
      </p:sp>
      <p:graphicFrame>
        <p:nvGraphicFramePr>
          <p:cNvPr id="5" name="Marcador de tabla 4">
            <a:extLst>
              <a:ext uri="{FF2B5EF4-FFF2-40B4-BE49-F238E27FC236}">
                <a16:creationId xmlns:a16="http://schemas.microsoft.com/office/drawing/2014/main" id="{DE438C60-6CC5-F583-6754-44B9693E58E7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122486967"/>
              </p:ext>
            </p:extLst>
          </p:nvPr>
        </p:nvGraphicFramePr>
        <p:xfrm>
          <a:off x="835025" y="2560638"/>
          <a:ext cx="10515600" cy="34782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4E9218D-FCD8-AE87-D23A-1ABCD29C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672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950405E-6CC6-48B6-904C-7399F3CE12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6CCC850-3CAF-485E-8FE8-24210D9006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DEE1146-FEA1-4301-B127-BA66F6D199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lvl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651DC0-7B6A-198B-D070-4B23FBD12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Papel de los lenguajes en el ecosistema de </a:t>
            </a:r>
            <a:r>
              <a:rPr lang="es-EC" dirty="0" err="1"/>
              <a:t>big</a:t>
            </a:r>
            <a:r>
              <a:rPr lang="es-EC" dirty="0"/>
              <a:t> data</a:t>
            </a:r>
            <a:endParaRPr lang="en-US" dirty="0"/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8397487A-DB39-3BA2-8C23-011C46C12463}"/>
              </a:ext>
            </a:extLst>
          </p:cNvPr>
          <p:cNvGraphicFramePr>
            <a:graphicFrameLocks noGrp="1"/>
          </p:cNvGraphicFramePr>
          <p:nvPr>
            <p:ph sz="quarter" idx="37"/>
            <p:extLst>
              <p:ext uri="{D42A27DB-BD31-4B8C-83A1-F6EECF244321}">
                <p14:modId xmlns:p14="http://schemas.microsoft.com/office/powerpoint/2010/main" val="4252896309"/>
              </p:ext>
            </p:extLst>
          </p:nvPr>
        </p:nvGraphicFramePr>
        <p:xfrm>
          <a:off x="1474910" y="2307066"/>
          <a:ext cx="8653828" cy="3427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A5149A7-D6B5-B020-0DC4-B84A72A30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443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630615"/>
          </a:xfrm>
        </p:spPr>
        <p:txBody>
          <a:bodyPr/>
          <a:lstStyle/>
          <a:p>
            <a:r>
              <a:rPr lang="en-US" dirty="0" err="1"/>
              <a:t>Lenguaje</a:t>
            </a:r>
            <a:r>
              <a:rPr lang="en-US" dirty="0"/>
              <a:t> 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9B49775-F975-47AA-823C-E666BB07B5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898" y="1386974"/>
            <a:ext cx="8911120" cy="5204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8FF55-E4FB-664C-FF60-5678E53F7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ED077-030E-D2F3-38F9-F3A090472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630615"/>
          </a:xfrm>
        </p:spPr>
        <p:txBody>
          <a:bodyPr/>
          <a:lstStyle/>
          <a:p>
            <a:r>
              <a:rPr lang="en-US" dirty="0" err="1"/>
              <a:t>Lenguaje</a:t>
            </a:r>
            <a:r>
              <a:rPr lang="en-US" dirty="0"/>
              <a:t> 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9D283E-505F-BD5E-7798-C53F68590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00F0D8A-84FF-ECDC-042B-DE1A93CB3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6068" y="1231392"/>
            <a:ext cx="9072298" cy="5359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83628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{4C0704B0-B233-4730-9817-2EC994FC3BCC}TFe8699e8e-689b-4d7e-abcf-e888fd749829db3118dc_win32-d573b439b56f</Template>
  <TotalTime>530</TotalTime>
  <Words>324</Words>
  <Application>Microsoft Office PowerPoint</Application>
  <PresentationFormat>Panorámica</PresentationFormat>
  <Paragraphs>31</Paragraphs>
  <Slides>8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Arial Nova</vt:lpstr>
      <vt:lpstr>Biome</vt:lpstr>
      <vt:lpstr>Calibri</vt:lpstr>
      <vt:lpstr>Custom</vt:lpstr>
      <vt:lpstr>unidad 3</vt:lpstr>
      <vt:lpstr>Introducción</vt:lpstr>
      <vt:lpstr>Objetivos de Aprendizaje</vt:lpstr>
      <vt:lpstr>frameworks</vt:lpstr>
      <vt:lpstr>Stack tecnologico</vt:lpstr>
      <vt:lpstr>Papel de los lenguajes en el ecosistema de big data</vt:lpstr>
      <vt:lpstr>Lenguaje R</vt:lpstr>
      <vt:lpstr>Lenguaje 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MGS. ESTEVAN RICARDO GOMEZ TORRES</dc:creator>
  <cp:lastModifiedBy>MGS. ESTEVAN RICARDO GOMEZ TORRES</cp:lastModifiedBy>
  <cp:revision>3</cp:revision>
  <dcterms:created xsi:type="dcterms:W3CDTF">2025-07-31T12:48:13Z</dcterms:created>
  <dcterms:modified xsi:type="dcterms:W3CDTF">2025-07-31T21:38:24Z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